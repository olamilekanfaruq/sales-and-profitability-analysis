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8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anrewaju faruq" userId="28def41750894616" providerId="LiveId" clId="{97ADEAE4-1467-46FD-AA9D-B32C6B4CC56C}"/>
    <pc:docChg chg="custSel modSld">
      <pc:chgData name="olanrewaju faruq" userId="28def41750894616" providerId="LiveId" clId="{97ADEAE4-1467-46FD-AA9D-B32C6B4CC56C}" dt="2026-03-18T13:52:46.270" v="19" actId="1076"/>
      <pc:docMkLst>
        <pc:docMk/>
      </pc:docMkLst>
      <pc:sldChg chg="delSp modSp mod">
        <pc:chgData name="olanrewaju faruq" userId="28def41750894616" providerId="LiveId" clId="{97ADEAE4-1467-46FD-AA9D-B32C6B4CC56C}" dt="2026-03-18T13:52:46.270" v="19" actId="1076"/>
        <pc:sldMkLst>
          <pc:docMk/>
          <pc:sldMk cId="0" sldId="256"/>
        </pc:sldMkLst>
        <pc:spChg chg="mod">
          <ac:chgData name="olanrewaju faruq" userId="28def41750894616" providerId="LiveId" clId="{97ADEAE4-1467-46FD-AA9D-B32C6B4CC56C}" dt="2026-03-18T13:52:46.270" v="19" actId="1076"/>
          <ac:spMkLst>
            <pc:docMk/>
            <pc:sldMk cId="0" sldId="256"/>
            <ac:spMk id="8" creationId="{00000000-0000-0000-0000-000000000000}"/>
          </ac:spMkLst>
        </pc:spChg>
        <pc:spChg chg="del">
          <ac:chgData name="olanrewaju faruq" userId="28def41750894616" providerId="LiveId" clId="{97ADEAE4-1467-46FD-AA9D-B32C6B4CC56C}" dt="2026-03-18T13:52:36.873" v="18" actId="478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olanrewaju faruq" userId="28def41750894616" providerId="LiveId" clId="{97ADEAE4-1467-46FD-AA9D-B32C6B4CC56C}" dt="2026-03-16T22:54:32.559" v="8" actId="403"/>
        <pc:sldMkLst>
          <pc:docMk/>
          <pc:sldMk cId="0" sldId="258"/>
        </pc:sldMkLst>
        <pc:spChg chg="mod">
          <ac:chgData name="olanrewaju faruq" userId="28def41750894616" providerId="LiveId" clId="{97ADEAE4-1467-46FD-AA9D-B32C6B4CC56C}" dt="2026-03-16T22:54:32.559" v="8" actId="403"/>
          <ac:spMkLst>
            <pc:docMk/>
            <pc:sldMk cId="0" sldId="258"/>
            <ac:spMk id="12" creationId="{00000000-0000-0000-0000-000000000000}"/>
          </ac:spMkLst>
        </pc:spChg>
        <pc:spChg chg="mod">
          <ac:chgData name="olanrewaju faruq" userId="28def41750894616" providerId="LiveId" clId="{97ADEAE4-1467-46FD-AA9D-B32C6B4CC56C}" dt="2026-03-16T22:54:15.733" v="5" actId="404"/>
          <ac:spMkLst>
            <pc:docMk/>
            <pc:sldMk cId="0" sldId="258"/>
            <ac:spMk id="19" creationId="{00000000-0000-0000-0000-000000000000}"/>
          </ac:spMkLst>
        </pc:spChg>
        <pc:spChg chg="mod">
          <ac:chgData name="olanrewaju faruq" userId="28def41750894616" providerId="LiveId" clId="{97ADEAE4-1467-46FD-AA9D-B32C6B4CC56C}" dt="2026-03-16T22:54:21.899" v="6" actId="404"/>
          <ac:spMkLst>
            <pc:docMk/>
            <pc:sldMk cId="0" sldId="258"/>
            <ac:spMk id="26" creationId="{00000000-0000-0000-0000-000000000000}"/>
          </ac:spMkLst>
        </pc:spChg>
      </pc:sldChg>
      <pc:sldChg chg="modSp mod">
        <pc:chgData name="olanrewaju faruq" userId="28def41750894616" providerId="LiveId" clId="{97ADEAE4-1467-46FD-AA9D-B32C6B4CC56C}" dt="2026-03-16T22:55:26.718" v="10" actId="403"/>
        <pc:sldMkLst>
          <pc:docMk/>
          <pc:sldMk cId="0" sldId="260"/>
        </pc:sldMkLst>
        <pc:spChg chg="mod">
          <ac:chgData name="olanrewaju faruq" userId="28def41750894616" providerId="LiveId" clId="{97ADEAE4-1467-46FD-AA9D-B32C6B4CC56C}" dt="2026-03-16T22:55:26.718" v="10" actId="403"/>
          <ac:spMkLst>
            <pc:docMk/>
            <pc:sldMk cId="0" sldId="260"/>
            <ac:spMk id="12" creationId="{00000000-0000-0000-0000-000000000000}"/>
          </ac:spMkLst>
        </pc:spChg>
        <pc:spChg chg="mod">
          <ac:chgData name="olanrewaju faruq" userId="28def41750894616" providerId="LiveId" clId="{97ADEAE4-1467-46FD-AA9D-B32C6B4CC56C}" dt="2026-03-16T22:55:20.152" v="9" actId="403"/>
          <ac:spMkLst>
            <pc:docMk/>
            <pc:sldMk cId="0" sldId="260"/>
            <ac:spMk id="26" creationId="{00000000-0000-0000-0000-000000000000}"/>
          </ac:spMkLst>
        </pc:spChg>
      </pc:sldChg>
      <pc:sldChg chg="modSp mod">
        <pc:chgData name="olanrewaju faruq" userId="28def41750894616" providerId="LiveId" clId="{97ADEAE4-1467-46FD-AA9D-B32C6B4CC56C}" dt="2026-03-16T22:56:30.852" v="17" actId="255"/>
        <pc:sldMkLst>
          <pc:docMk/>
          <pc:sldMk cId="0" sldId="261"/>
        </pc:sldMkLst>
        <pc:spChg chg="mod">
          <ac:chgData name="olanrewaju faruq" userId="28def41750894616" providerId="LiveId" clId="{97ADEAE4-1467-46FD-AA9D-B32C6B4CC56C}" dt="2026-03-16T22:55:53.914" v="11" actId="14100"/>
          <ac:spMkLst>
            <pc:docMk/>
            <pc:sldMk cId="0" sldId="261"/>
            <ac:spMk id="13" creationId="{00000000-0000-0000-0000-000000000000}"/>
          </ac:spMkLst>
        </pc:spChg>
        <pc:spChg chg="mod">
          <ac:chgData name="olanrewaju faruq" userId="28def41750894616" providerId="LiveId" clId="{97ADEAE4-1467-46FD-AA9D-B32C6B4CC56C}" dt="2026-03-16T22:56:30.852" v="17" actId="255"/>
          <ac:spMkLst>
            <pc:docMk/>
            <pc:sldMk cId="0" sldId="261"/>
            <ac:spMk id="21" creationId="{00000000-0000-0000-0000-000000000000}"/>
          </ac:spMkLst>
        </pc:spChg>
        <pc:spChg chg="mod">
          <ac:chgData name="olanrewaju faruq" userId="28def41750894616" providerId="LiveId" clId="{97ADEAE4-1467-46FD-AA9D-B32C6B4CC56C}" dt="2026-03-16T22:56:10.175" v="14" actId="14100"/>
          <ac:spMkLst>
            <pc:docMk/>
            <pc:sldMk cId="0" sldId="261"/>
            <ac:spMk id="2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4182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9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371600"/>
            <a:ext cx="5029200" cy="5029200"/>
          </a:xfrm>
          <a:prstGeom prst="ellipse">
            <a:avLst/>
          </a:prstGeom>
          <a:solidFill>
            <a:srgbClr val="1E2761">
              <a:alpha val="70000"/>
            </a:srgbClr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-731520"/>
            <a:ext cx="3840480" cy="384048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5943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</a:t>
            </a:r>
            <a:endParaRPr lang="en-US" sz="4800"/>
          </a:p>
          <a:p>
            <a:pPr marL="0" indent="0" algn="l">
              <a:buNone/>
            </a:pPr>
            <a:r>
              <a:rPr lang="en-US" sz="4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4800"/>
          </a:p>
          <a:p>
            <a:pPr marL="0" indent="0" algn="l">
              <a:buNone/>
            </a:pPr>
            <a:r>
              <a:rPr lang="en-US" sz="4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800"/>
          </a:p>
        </p:txBody>
      </p:sp>
      <p:sp>
        <p:nvSpPr>
          <p:cNvPr id="7" name="Shape 5"/>
          <p:cNvSpPr/>
          <p:nvPr/>
        </p:nvSpPr>
        <p:spPr>
          <a:xfrm>
            <a:off x="502920" y="3246120"/>
            <a:ext cx="365760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3378708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from Product Categories, Regions,</a:t>
            </a:r>
            <a:endParaRPr lang="en-US" sz="2800" b="1"/>
          </a:p>
          <a:p>
            <a:pPr marL="0" indent="0" algn="l">
              <a:buNone/>
            </a:pPr>
            <a:r>
              <a:rPr lang="en-US" sz="28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Discounts, Segments &amp; Shipping</a:t>
            </a:r>
            <a:endParaRPr lang="en-US" sz="28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Report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8412480" y="73152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CADCFC"/>
                </a:solidFill>
              </a:rPr>
              <a:t>02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54864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502920" cy="502920"/>
          </a:xfrm>
          <a:prstGeom prst="ellipse">
            <a:avLst/>
          </a:prstGeom>
          <a:solidFill>
            <a:srgbClr val="F0F4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2704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399032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top-performing product categories</a:t>
            </a:r>
            <a:endParaRPr lang="en-US" sz="1400"/>
          </a:p>
        </p:txBody>
      </p:sp>
      <p:sp>
        <p:nvSpPr>
          <p:cNvPr id="11" name="Shape 8"/>
          <p:cNvSpPr/>
          <p:nvPr/>
        </p:nvSpPr>
        <p:spPr>
          <a:xfrm>
            <a:off x="3246120" y="114300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46120" y="1143000"/>
            <a:ext cx="54864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429000" y="1463040"/>
            <a:ext cx="502920" cy="502920"/>
          </a:xfrm>
          <a:prstGeom prst="ellipse">
            <a:avLst/>
          </a:prstGeom>
          <a:solidFill>
            <a:srgbClr val="F0F4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1527048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23360" y="1399032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sales and profit by region and market</a:t>
            </a:r>
            <a:endParaRPr lang="en-US" sz="1400"/>
          </a:p>
        </p:txBody>
      </p:sp>
      <p:sp>
        <p:nvSpPr>
          <p:cNvPr id="16" name="Shape 12"/>
          <p:cNvSpPr/>
          <p:nvPr/>
        </p:nvSpPr>
        <p:spPr>
          <a:xfrm>
            <a:off x="6172200" y="114300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172200" y="1143000"/>
            <a:ext cx="54864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355080" y="1463040"/>
            <a:ext cx="502920" cy="502920"/>
          </a:xfrm>
          <a:prstGeom prst="ellipse">
            <a:avLst/>
          </a:prstGeom>
          <a:solidFill>
            <a:srgbClr val="F0F4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1527048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49440" y="1399032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impact of discount on profitability</a:t>
            </a:r>
            <a:endParaRPr lang="en-US" sz="1400"/>
          </a:p>
        </p:txBody>
      </p:sp>
      <p:sp>
        <p:nvSpPr>
          <p:cNvPr id="21" name="Shape 16"/>
          <p:cNvSpPr/>
          <p:nvPr/>
        </p:nvSpPr>
        <p:spPr>
          <a:xfrm>
            <a:off x="320040" y="283464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320040" y="2834640"/>
            <a:ext cx="54864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502920" y="3154680"/>
            <a:ext cx="502920" cy="502920"/>
          </a:xfrm>
          <a:prstGeom prst="ellipse">
            <a:avLst/>
          </a:prstGeom>
          <a:solidFill>
            <a:srgbClr val="F0F4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218688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97280" y="3090672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segments contributing most to revenue</a:t>
            </a:r>
            <a:endParaRPr lang="en-US" sz="1400"/>
          </a:p>
        </p:txBody>
      </p:sp>
      <p:sp>
        <p:nvSpPr>
          <p:cNvPr id="26" name="Shape 20"/>
          <p:cNvSpPr/>
          <p:nvPr/>
        </p:nvSpPr>
        <p:spPr>
          <a:xfrm>
            <a:off x="3246120" y="283464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3246120" y="2834640"/>
            <a:ext cx="54864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3429000" y="3154680"/>
            <a:ext cx="502920" cy="502920"/>
          </a:xfrm>
          <a:prstGeom prst="ellipse">
            <a:avLst/>
          </a:prstGeom>
          <a:solidFill>
            <a:srgbClr val="F0F4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3008" y="3218688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023360" y="3090672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shipping mode usage and impact</a:t>
            </a:r>
            <a:endParaRPr lang="en-US" sz="1400"/>
          </a:p>
        </p:txBody>
      </p:sp>
      <p:sp>
        <p:nvSpPr>
          <p:cNvPr id="31" name="Shape 24"/>
          <p:cNvSpPr/>
          <p:nvPr/>
        </p:nvSpPr>
        <p:spPr>
          <a:xfrm>
            <a:off x="6172200" y="283464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6172200" y="2834640"/>
            <a:ext cx="54864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6355080" y="3154680"/>
            <a:ext cx="502920" cy="502920"/>
          </a:xfrm>
          <a:prstGeom prst="ellipse">
            <a:avLst/>
          </a:prstGeom>
          <a:solidFill>
            <a:srgbClr val="F0F4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088" y="3218688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949440" y="3090672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order priority usage and profitability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Performance Overview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8412480" y="73152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CADCFC"/>
                </a:solidFill>
              </a:rPr>
              <a:t>03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697480" cy="3337560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60" y="128016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18745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600"/>
          </a:p>
        </p:txBody>
      </p:sp>
      <p:sp>
        <p:nvSpPr>
          <p:cNvPr id="10" name="Shape 7"/>
          <p:cNvSpPr/>
          <p:nvPr/>
        </p:nvSpPr>
        <p:spPr>
          <a:xfrm>
            <a:off x="640080" y="2286000"/>
            <a:ext cx="2057400" cy="274320"/>
          </a:xfrm>
          <a:prstGeom prst="rect">
            <a:avLst/>
          </a:prstGeom>
          <a:solidFill>
            <a:srgbClr val="10B981">
              <a:alpha val="15000"/>
            </a:srgbClr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0080" y="22860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SALES &amp; PROFIT</a:t>
            </a:r>
            <a:endParaRPr lang="en-US" sz="1000"/>
          </a:p>
        </p:txBody>
      </p:sp>
      <p:sp>
        <p:nvSpPr>
          <p:cNvPr id="12" name="Text 9"/>
          <p:cNvSpPr/>
          <p:nvPr/>
        </p:nvSpPr>
        <p:spPr>
          <a:xfrm>
            <a:off x="484632" y="2697480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sales &amp; profit</a:t>
            </a:r>
            <a:endParaRPr lang="en-US" sz="16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are high but justified by strong revenue</a:t>
            </a:r>
            <a:endParaRPr lang="en-US" sz="16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performing category overall</a:t>
            </a:r>
            <a:endParaRPr lang="en-US" sz="1600"/>
          </a:p>
        </p:txBody>
      </p:sp>
      <p:sp>
        <p:nvSpPr>
          <p:cNvPr id="13" name="Shape 10"/>
          <p:cNvSpPr/>
          <p:nvPr/>
        </p:nvSpPr>
        <p:spPr>
          <a:xfrm>
            <a:off x="3177540" y="1097280"/>
            <a:ext cx="2697480" cy="3337560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177540" y="1097280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28016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177540" y="18745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1600"/>
          </a:p>
        </p:txBody>
      </p:sp>
      <p:sp>
        <p:nvSpPr>
          <p:cNvPr id="17" name="Shape 13"/>
          <p:cNvSpPr/>
          <p:nvPr/>
        </p:nvSpPr>
        <p:spPr>
          <a:xfrm>
            <a:off x="3497580" y="2286000"/>
            <a:ext cx="2057400" cy="274320"/>
          </a:xfrm>
          <a:prstGeom prst="rect">
            <a:avLst/>
          </a:prstGeom>
          <a:solidFill>
            <a:srgbClr val="F59E0B">
              <a:alpha val="15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3497580" y="22860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NEEDED</a:t>
            </a:r>
            <a:endParaRPr lang="en-US" sz="1000"/>
          </a:p>
        </p:txBody>
      </p:sp>
      <p:sp>
        <p:nvSpPr>
          <p:cNvPr id="19" name="Text 15"/>
          <p:cNvSpPr/>
          <p:nvPr/>
        </p:nvSpPr>
        <p:spPr>
          <a:xfrm>
            <a:off x="3342132" y="2697480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sales volume</a:t>
            </a:r>
            <a:endParaRPr lang="en-US" sz="16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profit than Office Supplies</a:t>
            </a:r>
            <a:endParaRPr lang="en-US" sz="16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to reduce cost structure</a:t>
            </a:r>
            <a:endParaRPr lang="en-US" sz="1600"/>
          </a:p>
        </p:txBody>
      </p:sp>
      <p:sp>
        <p:nvSpPr>
          <p:cNvPr id="20" name="Shape 16"/>
          <p:cNvSpPr/>
          <p:nvPr/>
        </p:nvSpPr>
        <p:spPr>
          <a:xfrm>
            <a:off x="6035040" y="1097280"/>
            <a:ext cx="2697480" cy="3337560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035040" y="1097280"/>
            <a:ext cx="269748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9460" y="1280160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035040" y="18745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</a:t>
            </a:r>
            <a:endParaRPr lang="en-US" sz="1600"/>
          </a:p>
        </p:txBody>
      </p:sp>
      <p:sp>
        <p:nvSpPr>
          <p:cNvPr id="24" name="Shape 19"/>
          <p:cNvSpPr/>
          <p:nvPr/>
        </p:nvSpPr>
        <p:spPr>
          <a:xfrm>
            <a:off x="6355080" y="2286000"/>
            <a:ext cx="2057400" cy="274320"/>
          </a:xfrm>
          <a:prstGeom prst="rect">
            <a:avLst/>
          </a:prstGeom>
          <a:solidFill>
            <a:srgbClr val="0D9488">
              <a:alpha val="15000"/>
            </a:srgbClr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6355080" y="22860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EFFICIENT</a:t>
            </a:r>
            <a:endParaRPr lang="en-US" sz="1000"/>
          </a:p>
        </p:txBody>
      </p:sp>
      <p:sp>
        <p:nvSpPr>
          <p:cNvPr id="26" name="Text 21"/>
          <p:cNvSpPr/>
          <p:nvPr/>
        </p:nvSpPr>
        <p:spPr>
          <a:xfrm>
            <a:off x="6199632" y="2697480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revenue overall</a:t>
            </a:r>
            <a:endParaRPr lang="en-US" sz="16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profit margin than Furniture</a:t>
            </a:r>
            <a:endParaRPr lang="en-US" sz="16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cost-to-revenue efficiency</a:t>
            </a:r>
            <a:endParaRPr lang="en-US" sz="1600"/>
          </a:p>
        </p:txBody>
      </p:sp>
      <p:sp>
        <p:nvSpPr>
          <p:cNvPr id="27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|  Focus on optimizing Furniture cost to increase profit; monitor Office Supplies discount strategy.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Sales &amp; Profit Analysis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8412480" y="73152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CADCFC"/>
                </a:solidFill>
              </a:rPr>
              <a:t>04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1148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41148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Market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sales &amp; profit across all markets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high order volume</a:t>
            </a: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benchmark for other markets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/>
          </a:p>
          <a:p>
            <a:pPr marL="0" indent="0">
              <a:buNone/>
            </a:pPr>
            <a:r>
              <a:rPr lang="en-US" sz="14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Volume–Profit Correlation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 correlation observed across markets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order volume → higher profit</a:t>
            </a:r>
            <a:endParaRPr lang="en-US" sz="1400"/>
          </a:p>
          <a:p>
            <a:pPr marL="342900" indent="-342900">
              <a:buSzPct val="100000"/>
              <a:buChar char="•"/>
            </a:pP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high-volume markets show above-avg profit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201168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73168" y="11704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2200"/>
          </a:p>
        </p:txBody>
      </p:sp>
      <p:sp>
        <p:nvSpPr>
          <p:cNvPr id="12" name="Text 10"/>
          <p:cNvSpPr/>
          <p:nvPr/>
        </p:nvSpPr>
        <p:spPr>
          <a:xfrm>
            <a:off x="4773168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4773168" y="1572768"/>
            <a:ext cx="7315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949440" y="1097280"/>
            <a:ext cx="201168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59168" y="11704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2200"/>
          </a:p>
        </p:txBody>
      </p:sp>
      <p:sp>
        <p:nvSpPr>
          <p:cNvPr id="16" name="Text 14"/>
          <p:cNvSpPr/>
          <p:nvPr/>
        </p:nvSpPr>
        <p:spPr>
          <a:xfrm>
            <a:off x="7059168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7059168" y="1572768"/>
            <a:ext cx="7315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2176272"/>
            <a:ext cx="201168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73168" y="22494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2200"/>
          </a:p>
        </p:txBody>
      </p:sp>
      <p:sp>
        <p:nvSpPr>
          <p:cNvPr id="20" name="Text 18"/>
          <p:cNvSpPr/>
          <p:nvPr/>
        </p:nvSpPr>
        <p:spPr>
          <a:xfrm>
            <a:off x="4773168" y="26791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1300"/>
          </a:p>
        </p:txBody>
      </p:sp>
      <p:sp>
        <p:nvSpPr>
          <p:cNvPr id="21" name="Shape 19"/>
          <p:cNvSpPr/>
          <p:nvPr/>
        </p:nvSpPr>
        <p:spPr>
          <a:xfrm>
            <a:off x="4773168" y="2651760"/>
            <a:ext cx="7315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949440" y="2176272"/>
            <a:ext cx="2011680" cy="9144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59168" y="22494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2200"/>
          </a:p>
        </p:txBody>
      </p:sp>
      <p:sp>
        <p:nvSpPr>
          <p:cNvPr id="24" name="Text 22"/>
          <p:cNvSpPr/>
          <p:nvPr/>
        </p:nvSpPr>
        <p:spPr>
          <a:xfrm>
            <a:off x="7059168" y="26791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LATAM</a:t>
            </a:r>
            <a:endParaRPr lang="en-US" sz="1300"/>
          </a:p>
        </p:txBody>
      </p:sp>
      <p:sp>
        <p:nvSpPr>
          <p:cNvPr id="25" name="Shape 23"/>
          <p:cNvSpPr/>
          <p:nvPr/>
        </p:nvSpPr>
        <p:spPr>
          <a:xfrm>
            <a:off x="7059168" y="2651760"/>
            <a:ext cx="7315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3255264"/>
            <a:ext cx="2011680" cy="9144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73168" y="33284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2200"/>
          </a:p>
        </p:txBody>
      </p:sp>
      <p:sp>
        <p:nvSpPr>
          <p:cNvPr id="28" name="Text 26"/>
          <p:cNvSpPr/>
          <p:nvPr/>
        </p:nvSpPr>
        <p:spPr>
          <a:xfrm>
            <a:off x="4773168" y="375818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</a:t>
            </a:r>
            <a:endParaRPr lang="en-US" sz="1300"/>
          </a:p>
        </p:txBody>
      </p:sp>
      <p:sp>
        <p:nvSpPr>
          <p:cNvPr id="29" name="Shape 27"/>
          <p:cNvSpPr/>
          <p:nvPr/>
        </p:nvSpPr>
        <p:spPr>
          <a:xfrm>
            <a:off x="4773168" y="3730752"/>
            <a:ext cx="7315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949440" y="3255264"/>
            <a:ext cx="2011680" cy="9144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059168" y="33284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2200"/>
          </a:p>
        </p:txBody>
      </p:sp>
      <p:sp>
        <p:nvSpPr>
          <p:cNvPr id="32" name="Text 30"/>
          <p:cNvSpPr/>
          <p:nvPr/>
        </p:nvSpPr>
        <p:spPr>
          <a:xfrm>
            <a:off x="7059168" y="375818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</a:t>
            </a:r>
            <a:endParaRPr lang="en-US" sz="1300"/>
          </a:p>
        </p:txBody>
      </p:sp>
      <p:sp>
        <p:nvSpPr>
          <p:cNvPr id="33" name="Shape 31"/>
          <p:cNvSpPr/>
          <p:nvPr/>
        </p:nvSpPr>
        <p:spPr>
          <a:xfrm>
            <a:off x="7059168" y="3730752"/>
            <a:ext cx="7315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|  High volume drives profit — prioritize high-performing markets (APAC, EU) for strategic investments.</a:t>
            </a:r>
            <a:endParaRPr 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vs. Profit Per Order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8412480" y="73152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CADCFC"/>
                </a:solidFill>
              </a:rPr>
              <a:t>05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743200" cy="3337560"/>
          </a:xfrm>
          <a:prstGeom prst="rect">
            <a:avLst/>
          </a:prstGeom>
          <a:solidFill>
            <a:srgbClr val="F0FDF4"/>
          </a:solidFill>
          <a:ln w="889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2743200" cy="594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261872"/>
            <a:ext cx="640080" cy="640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2011680"/>
            <a:ext cx="2103120" cy="274320"/>
          </a:xfrm>
          <a:prstGeom prst="rect">
            <a:avLst/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2011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ZONE</a:t>
            </a:r>
            <a:endParaRPr lang="en-US" sz="1000"/>
          </a:p>
        </p:txBody>
      </p:sp>
      <p:sp>
        <p:nvSpPr>
          <p:cNvPr id="11" name="Text 8"/>
          <p:cNvSpPr/>
          <p:nvPr/>
        </p:nvSpPr>
        <p:spPr>
          <a:xfrm>
            <a:off x="457200" y="2377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≤ 7%</a:t>
            </a:r>
            <a:endParaRPr lang="en-US" sz="1500"/>
          </a:p>
        </p:txBody>
      </p:sp>
      <p:sp>
        <p:nvSpPr>
          <p:cNvPr id="12" name="Text 9"/>
          <p:cNvSpPr/>
          <p:nvPr/>
        </p:nvSpPr>
        <p:spPr>
          <a:xfrm>
            <a:off x="484632" y="2852928"/>
            <a:ext cx="2414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profitable orders. Maintain and encourage this discount range for regular customers.</a:t>
            </a:r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223260" y="1097280"/>
            <a:ext cx="2743200" cy="3337560"/>
          </a:xfrm>
          <a:prstGeom prst="rect">
            <a:avLst/>
          </a:prstGeom>
          <a:solidFill>
            <a:srgbClr val="FFFBEB"/>
          </a:solidFill>
          <a:ln w="889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223260" y="1097280"/>
            <a:ext cx="2743200" cy="594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4820" y="1261872"/>
            <a:ext cx="640080" cy="6400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543300" y="2011680"/>
            <a:ext cx="2103120" cy="274320"/>
          </a:xfrm>
          <a:prstGeom prst="rect">
            <a:avLst/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3543300" y="2011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ZONE</a:t>
            </a:r>
            <a:endParaRPr lang="en-US" sz="1000"/>
          </a:p>
        </p:txBody>
      </p:sp>
      <p:sp>
        <p:nvSpPr>
          <p:cNvPr id="18" name="Text 14"/>
          <p:cNvSpPr/>
          <p:nvPr/>
        </p:nvSpPr>
        <p:spPr>
          <a:xfrm>
            <a:off x="3360420" y="2377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10–25%</a:t>
            </a:r>
            <a:endParaRPr lang="en-US" sz="1500"/>
          </a:p>
        </p:txBody>
      </p:sp>
      <p:sp>
        <p:nvSpPr>
          <p:cNvPr id="19" name="Text 15"/>
          <p:cNvSpPr/>
          <p:nvPr/>
        </p:nvSpPr>
        <p:spPr>
          <a:xfrm>
            <a:off x="3387852" y="2852928"/>
            <a:ext cx="2414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declines sharply. Use with caution and only for high-volume buyers to preserve margins.</a:t>
            </a:r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126480" y="1097280"/>
            <a:ext cx="2743200" cy="3337560"/>
          </a:xfrm>
          <a:prstGeom prst="rect">
            <a:avLst/>
          </a:prstGeom>
          <a:solidFill>
            <a:srgbClr val="FFF1F2"/>
          </a:solidFill>
          <a:ln w="889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126480" y="1097280"/>
            <a:ext cx="2743200" cy="594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261872"/>
            <a:ext cx="640080" cy="64008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446520" y="2011680"/>
            <a:ext cx="2103120" cy="274320"/>
          </a:xfrm>
          <a:prstGeom prst="rect">
            <a:avLst/>
          </a:prstGeom>
          <a:solidFill>
            <a:srgbClr val="EF4444">
              <a:alpha val="20000"/>
            </a:srgbClr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6446520" y="2011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TERRITORY</a:t>
            </a:r>
            <a:endParaRPr lang="en-US" sz="1000"/>
          </a:p>
        </p:txBody>
      </p:sp>
      <p:sp>
        <p:nvSpPr>
          <p:cNvPr id="25" name="Text 20"/>
          <p:cNvSpPr/>
          <p:nvPr/>
        </p:nvSpPr>
        <p:spPr>
          <a:xfrm>
            <a:off x="6263640" y="2377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&gt; 25%</a:t>
            </a:r>
            <a:endParaRPr lang="en-US" sz="1500"/>
          </a:p>
        </p:txBody>
      </p:sp>
      <p:sp>
        <p:nvSpPr>
          <p:cNvPr id="26" name="Text 21"/>
          <p:cNvSpPr/>
          <p:nvPr/>
        </p:nvSpPr>
        <p:spPr>
          <a:xfrm>
            <a:off x="6291072" y="2852928"/>
            <a:ext cx="2414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profit. This range is entirely unsustainable and should be avoided or eliminated.</a:t>
            </a:r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|  Keep discounts ≤ 10%. Avoid discounts above 25% — they guarantee losses. Target high-volume customers.</a:t>
            </a:r>
            <a:endParaRPr 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Revenue &amp; Profit Contribution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8412480" y="73152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CADCFC"/>
                </a:solidFill>
              </a:rPr>
              <a:t>06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74320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2743200" cy="594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88720" y="1234440"/>
            <a:ext cx="1005840" cy="100584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88720" y="1234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</a:t>
            </a:r>
            <a:endParaRPr lang="en-US" sz="2200"/>
          </a:p>
        </p:txBody>
      </p:sp>
      <p:sp>
        <p:nvSpPr>
          <p:cNvPr id="10" name="Text 8"/>
          <p:cNvSpPr/>
          <p:nvPr/>
        </p:nvSpPr>
        <p:spPr>
          <a:xfrm>
            <a:off x="320040" y="2304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500"/>
          </a:p>
        </p:txBody>
      </p:sp>
      <p:sp>
        <p:nvSpPr>
          <p:cNvPr id="11" name="Shape 9"/>
          <p:cNvSpPr/>
          <p:nvPr/>
        </p:nvSpPr>
        <p:spPr>
          <a:xfrm>
            <a:off x="594360" y="2670048"/>
            <a:ext cx="2194560" cy="246888"/>
          </a:xfrm>
          <a:prstGeom prst="rect">
            <a:avLst/>
          </a:prstGeom>
          <a:solidFill>
            <a:srgbClr val="0D9488">
              <a:alpha val="15000"/>
            </a:srgbClr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67004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 &amp; PROFIT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484632" y="301752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contributor to revenue and profit</a:t>
            </a:r>
            <a:endParaRPr lang="en-US" sz="12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impact across all regions</a:t>
            </a:r>
            <a:endParaRPr lang="en-US" sz="12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outperforms other segments</a:t>
            </a:r>
            <a:endParaRPr lang="en-US" sz="12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focus segment for growth initiatives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3223260" y="1097280"/>
            <a:ext cx="274320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23260" y="1097280"/>
            <a:ext cx="2743200" cy="594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091940" y="1234440"/>
            <a:ext cx="1005840" cy="1005840"/>
          </a:xfrm>
          <a:prstGeom prst="ellipse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91940" y="1234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200"/>
          </a:p>
        </p:txBody>
      </p:sp>
      <p:sp>
        <p:nvSpPr>
          <p:cNvPr id="18" name="Text 16"/>
          <p:cNvSpPr/>
          <p:nvPr/>
        </p:nvSpPr>
        <p:spPr>
          <a:xfrm>
            <a:off x="3223260" y="2304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1500"/>
          </a:p>
        </p:txBody>
      </p:sp>
      <p:sp>
        <p:nvSpPr>
          <p:cNvPr id="19" name="Shape 17"/>
          <p:cNvSpPr/>
          <p:nvPr/>
        </p:nvSpPr>
        <p:spPr>
          <a:xfrm>
            <a:off x="3497580" y="2670048"/>
            <a:ext cx="2194560" cy="246888"/>
          </a:xfrm>
          <a:prstGeom prst="rect">
            <a:avLst/>
          </a:prstGeom>
          <a:solidFill>
            <a:srgbClr val="1E2761">
              <a:alpha val="15000"/>
            </a:srgbClr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97580" y="267004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PERFORMER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3387852" y="3017520"/>
            <a:ext cx="24688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highest revenue contributor</a:t>
            </a:r>
            <a:endParaRPr lang="en-US" sz="11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profit margin across regions</a:t>
            </a:r>
            <a:endParaRPr lang="en-US" sz="11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to increase order frequency</a:t>
            </a:r>
            <a:endParaRPr lang="en-US" sz="115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target for bulk discount strategies</a:t>
            </a:r>
            <a:endParaRPr lang="en-US" sz="1150"/>
          </a:p>
        </p:txBody>
      </p:sp>
      <p:sp>
        <p:nvSpPr>
          <p:cNvPr id="22" name="Shape 20"/>
          <p:cNvSpPr/>
          <p:nvPr/>
        </p:nvSpPr>
        <p:spPr>
          <a:xfrm>
            <a:off x="6126480" y="1097280"/>
            <a:ext cx="274320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26480" y="1097280"/>
            <a:ext cx="2743200" cy="594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995160" y="1234440"/>
            <a:ext cx="1005840" cy="100584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95160" y="1234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2200"/>
          </a:p>
        </p:txBody>
      </p:sp>
      <p:sp>
        <p:nvSpPr>
          <p:cNvPr id="26" name="Text 24"/>
          <p:cNvSpPr/>
          <p:nvPr/>
        </p:nvSpPr>
        <p:spPr>
          <a:xfrm>
            <a:off x="6126480" y="2304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Office</a:t>
            </a:r>
            <a:endParaRPr lang="en-US" sz="1500"/>
          </a:p>
        </p:txBody>
      </p:sp>
      <p:sp>
        <p:nvSpPr>
          <p:cNvPr id="27" name="Shape 25"/>
          <p:cNvSpPr/>
          <p:nvPr/>
        </p:nvSpPr>
        <p:spPr>
          <a:xfrm>
            <a:off x="6400800" y="2670048"/>
            <a:ext cx="2194560" cy="246888"/>
          </a:xfrm>
          <a:prstGeom prst="rect">
            <a:avLst/>
          </a:prstGeom>
          <a:solidFill>
            <a:srgbClr val="F59E0B">
              <a:alpha val="15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0" y="267004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OPPORTUNITY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6291072" y="301752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segment by revenue share</a:t>
            </a:r>
            <a:endParaRPr lang="en-US" sz="12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overall profit contribution</a:t>
            </a:r>
            <a:endParaRPr lang="en-US" sz="12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for targeted marketing campaigns</a:t>
            </a:r>
            <a:endParaRPr lang="en-US" sz="12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benefit from tailored product bundles</a:t>
            </a:r>
            <a:endParaRPr lang="en-US" sz="1200"/>
          </a:p>
        </p:txBody>
      </p:sp>
      <p:sp>
        <p:nvSpPr>
          <p:cNvPr id="30" name="Shape 2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|  Strengthen Consumer-focused strategies — it leads in both revenue (51%) and profit. Align marketing &amp; sales efforts.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Mode &amp; Order Priority Analysis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8412480" y="73152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CADCFC"/>
                </a:solidFill>
              </a:rPr>
              <a:t>07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114800" cy="3794760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4114800" cy="594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7043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2688" y="11704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Mode</a:t>
            </a:r>
            <a:endParaRPr lang="en-US" sz="1300"/>
          </a:p>
        </p:txBody>
      </p:sp>
      <p:sp>
        <p:nvSpPr>
          <p:cNvPr id="10" name="Text 7"/>
          <p:cNvSpPr/>
          <p:nvPr/>
        </p:nvSpPr>
        <p:spPr>
          <a:xfrm>
            <a:off x="457200" y="16916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</a:t>
            </a:r>
            <a:endParaRPr lang="en-US" sz="1400"/>
          </a:p>
        </p:txBody>
      </p:sp>
      <p:sp>
        <p:nvSpPr>
          <p:cNvPr id="11" name="Shape 8"/>
          <p:cNvSpPr/>
          <p:nvPr/>
        </p:nvSpPr>
        <p:spPr>
          <a:xfrm>
            <a:off x="457200" y="1938528"/>
            <a:ext cx="228600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1938528"/>
            <a:ext cx="2286000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20939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30,775 orders  •  Avg cost: $19.97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457200" y="23500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Class</a:t>
            </a:r>
            <a:endParaRPr lang="en-US" sz="1400"/>
          </a:p>
        </p:txBody>
      </p:sp>
      <p:sp>
        <p:nvSpPr>
          <p:cNvPr id="15" name="Shape 12"/>
          <p:cNvSpPr/>
          <p:nvPr/>
        </p:nvSpPr>
        <p:spPr>
          <a:xfrm>
            <a:off x="457200" y="2596896"/>
            <a:ext cx="228600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" y="2596896"/>
            <a:ext cx="754380" cy="137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27523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10,309 orders  •  Avg cost: $30.47</a:t>
            </a:r>
            <a:endParaRPr lang="en-US" sz="1100"/>
          </a:p>
        </p:txBody>
      </p:sp>
      <p:sp>
        <p:nvSpPr>
          <p:cNvPr id="18" name="Text 15"/>
          <p:cNvSpPr/>
          <p:nvPr/>
        </p:nvSpPr>
        <p:spPr>
          <a:xfrm>
            <a:off x="457200" y="30083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Class</a:t>
            </a:r>
            <a:endParaRPr lang="en-US" sz="1400"/>
          </a:p>
        </p:txBody>
      </p:sp>
      <p:sp>
        <p:nvSpPr>
          <p:cNvPr id="19" name="Shape 16"/>
          <p:cNvSpPr/>
          <p:nvPr/>
        </p:nvSpPr>
        <p:spPr>
          <a:xfrm>
            <a:off x="457200" y="3255264"/>
            <a:ext cx="228600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57200" y="3255264"/>
            <a:ext cx="548640" cy="137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57200" y="34107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7,505 orders  •  Avg cost: $41.05</a:t>
            </a:r>
            <a:endParaRPr lang="en-US" sz="1100"/>
          </a:p>
        </p:txBody>
      </p:sp>
      <p:sp>
        <p:nvSpPr>
          <p:cNvPr id="22" name="Text 19"/>
          <p:cNvSpPr/>
          <p:nvPr/>
        </p:nvSpPr>
        <p:spPr>
          <a:xfrm>
            <a:off x="457200" y="36667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</a:t>
            </a:r>
            <a:endParaRPr lang="en-US" sz="1400"/>
          </a:p>
        </p:txBody>
      </p:sp>
      <p:sp>
        <p:nvSpPr>
          <p:cNvPr id="23" name="Shape 20"/>
          <p:cNvSpPr/>
          <p:nvPr/>
        </p:nvSpPr>
        <p:spPr>
          <a:xfrm>
            <a:off x="457200" y="3913632"/>
            <a:ext cx="228600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57200" y="3913632"/>
            <a:ext cx="205740" cy="1371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57200" y="40690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2,701 orders  •  Avg cost: $42.94</a:t>
            </a:r>
            <a:endParaRPr lang="en-US" sz="1100"/>
          </a:p>
        </p:txBody>
      </p:sp>
      <p:sp>
        <p:nvSpPr>
          <p:cNvPr id="26" name="Shape 23"/>
          <p:cNvSpPr/>
          <p:nvPr/>
        </p:nvSpPr>
        <p:spPr>
          <a:xfrm>
            <a:off x="457200" y="4325112"/>
            <a:ext cx="37490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48640" y="43251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Most Used: Standard Class — lowest avg shipping cost ($19.97)</a:t>
            </a:r>
            <a:endParaRPr lang="en-US" sz="1200"/>
          </a:p>
        </p:txBody>
      </p:sp>
      <p:sp>
        <p:nvSpPr>
          <p:cNvPr id="28" name="Shape 25"/>
          <p:cNvSpPr/>
          <p:nvPr/>
        </p:nvSpPr>
        <p:spPr>
          <a:xfrm>
            <a:off x="4709160" y="1078992"/>
            <a:ext cx="4114800" cy="3794760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709160" y="1078992"/>
            <a:ext cx="4114800" cy="594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170432"/>
            <a:ext cx="384048" cy="38404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321808" y="11704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Priority</a:t>
            </a:r>
            <a:endParaRPr lang="en-US" sz="1300"/>
          </a:p>
        </p:txBody>
      </p:sp>
      <p:sp>
        <p:nvSpPr>
          <p:cNvPr id="32" name="Text 28"/>
          <p:cNvSpPr/>
          <p:nvPr/>
        </p:nvSpPr>
        <p:spPr>
          <a:xfrm>
            <a:off x="4846320" y="16916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400"/>
          </a:p>
        </p:txBody>
      </p:sp>
      <p:sp>
        <p:nvSpPr>
          <p:cNvPr id="33" name="Shape 29"/>
          <p:cNvSpPr/>
          <p:nvPr/>
        </p:nvSpPr>
        <p:spPr>
          <a:xfrm>
            <a:off x="4846320" y="1938528"/>
            <a:ext cx="228600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4846320" y="1938528"/>
            <a:ext cx="2286000" cy="137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4846320" y="20939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29,433 orders  •  Highest profit generator</a:t>
            </a:r>
            <a:endParaRPr lang="en-US" sz="1100"/>
          </a:p>
        </p:txBody>
      </p:sp>
      <p:sp>
        <p:nvSpPr>
          <p:cNvPr id="36" name="Text 32"/>
          <p:cNvSpPr/>
          <p:nvPr/>
        </p:nvSpPr>
        <p:spPr>
          <a:xfrm>
            <a:off x="4846320" y="23500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00"/>
          </a:p>
        </p:txBody>
      </p:sp>
      <p:sp>
        <p:nvSpPr>
          <p:cNvPr id="37" name="Shape 33"/>
          <p:cNvSpPr/>
          <p:nvPr/>
        </p:nvSpPr>
        <p:spPr>
          <a:xfrm>
            <a:off x="4846320" y="2596896"/>
            <a:ext cx="228600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4846320" y="2596896"/>
            <a:ext cx="1257300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4846320" y="27523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15,501 orders  •  Strong profit performance</a:t>
            </a:r>
            <a:endParaRPr lang="en-US" sz="1100"/>
          </a:p>
        </p:txBody>
      </p:sp>
      <p:sp>
        <p:nvSpPr>
          <p:cNvPr id="40" name="Text 36"/>
          <p:cNvSpPr/>
          <p:nvPr/>
        </p:nvSpPr>
        <p:spPr>
          <a:xfrm>
            <a:off x="4846320" y="30083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400"/>
          </a:p>
        </p:txBody>
      </p:sp>
      <p:sp>
        <p:nvSpPr>
          <p:cNvPr id="41" name="Shape 37"/>
          <p:cNvSpPr/>
          <p:nvPr/>
        </p:nvSpPr>
        <p:spPr>
          <a:xfrm>
            <a:off x="4846320" y="3255264"/>
            <a:ext cx="228600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8"/>
          <p:cNvSpPr/>
          <p:nvPr/>
        </p:nvSpPr>
        <p:spPr>
          <a:xfrm>
            <a:off x="4846320" y="3255264"/>
            <a:ext cx="777240" cy="137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/>
          <p:nvPr/>
        </p:nvSpPr>
        <p:spPr>
          <a:xfrm>
            <a:off x="4846320" y="34107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3,932 orders  •  Moderate profit level</a:t>
            </a:r>
            <a:endParaRPr lang="en-US" sz="1100"/>
          </a:p>
        </p:txBody>
      </p:sp>
      <p:sp>
        <p:nvSpPr>
          <p:cNvPr id="44" name="Text 40"/>
          <p:cNvSpPr/>
          <p:nvPr/>
        </p:nvSpPr>
        <p:spPr>
          <a:xfrm>
            <a:off x="4846320" y="36667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400"/>
          </a:p>
        </p:txBody>
      </p:sp>
      <p:sp>
        <p:nvSpPr>
          <p:cNvPr id="45" name="Shape 41"/>
          <p:cNvSpPr/>
          <p:nvPr/>
        </p:nvSpPr>
        <p:spPr>
          <a:xfrm>
            <a:off x="4846320" y="3913632"/>
            <a:ext cx="228600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2"/>
          <p:cNvSpPr/>
          <p:nvPr/>
        </p:nvSpPr>
        <p:spPr>
          <a:xfrm>
            <a:off x="4846320" y="3913632"/>
            <a:ext cx="434340" cy="1371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3"/>
          <p:cNvSpPr/>
          <p:nvPr/>
        </p:nvSpPr>
        <p:spPr>
          <a:xfrm>
            <a:off x="4846320" y="40690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2,424 orders  •  Lowest order volume</a:t>
            </a:r>
            <a:endParaRPr lang="en-US" sz="1100"/>
          </a:p>
        </p:txBody>
      </p:sp>
      <p:sp>
        <p:nvSpPr>
          <p:cNvPr id="48" name="Shape 44"/>
          <p:cNvSpPr/>
          <p:nvPr/>
        </p:nvSpPr>
        <p:spPr>
          <a:xfrm>
            <a:off x="4846320" y="4325112"/>
            <a:ext cx="37490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49" name="Text 45"/>
          <p:cNvSpPr/>
          <p:nvPr/>
        </p:nvSpPr>
        <p:spPr>
          <a:xfrm>
            <a:off x="4937760" y="43251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Most Profitable: Medium Priority — 29,433 orders &amp; highest profit</a:t>
            </a:r>
            <a:endParaRPr lang="en-US" sz="1200"/>
          </a:p>
        </p:txBody>
      </p:sp>
      <p:sp>
        <p:nvSpPr>
          <p:cNvPr id="50" name="Shape 4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7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|  Operational efficiency drives shipping choice — align priorities with profit performance for optimal results.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9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Recommendations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457200" y="768096"/>
            <a:ext cx="822960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14800" cy="16642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114800" cy="594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0058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0241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Strategy</a:t>
            </a:r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148132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discounts ≤ 10% or remove entirely</a:t>
            </a:r>
            <a:endParaRPr lang="en-US" sz="13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discounts only for high-volume customers</a:t>
            </a:r>
            <a:endParaRPr lang="en-US" sz="13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all discounts above 25%</a:t>
            </a:r>
            <a:endParaRPr lang="en-US" sz="1300"/>
          </a:p>
        </p:txBody>
      </p:sp>
      <p:sp>
        <p:nvSpPr>
          <p:cNvPr id="11" name="Shape 8"/>
          <p:cNvSpPr/>
          <p:nvPr/>
        </p:nvSpPr>
        <p:spPr>
          <a:xfrm>
            <a:off x="4709160" y="914400"/>
            <a:ext cx="4114800" cy="16642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09160" y="914400"/>
            <a:ext cx="4114800" cy="594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46320" y="1005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0058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10241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Focus</a:t>
            </a:r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892040" y="148132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Furniture cost to increase profit margin</a:t>
            </a:r>
            <a:endParaRPr lang="en-US" sz="13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Office Supplies discount policy</a:t>
            </a:r>
            <a:endParaRPr lang="en-US" sz="13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Technology sales — highest ROI category</a:t>
            </a:r>
            <a:endParaRPr lang="en-US" sz="1300"/>
          </a:p>
        </p:txBody>
      </p:sp>
      <p:sp>
        <p:nvSpPr>
          <p:cNvPr id="17" name="Shape 13"/>
          <p:cNvSpPr/>
          <p:nvPr/>
        </p:nvSpPr>
        <p:spPr>
          <a:xfrm>
            <a:off x="320040" y="2743200"/>
            <a:ext cx="4114800" cy="16642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20040" y="2743200"/>
            <a:ext cx="4114800" cy="5943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57200" y="2834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283464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4400" y="28529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&amp; Region</a:t>
            </a:r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502920" y="3310128"/>
            <a:ext cx="379476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growth on Consumer segment (51% revenue)</a:t>
            </a:r>
            <a:endParaRPr lang="en-US" sz="13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APAC and EU for investment</a:t>
            </a:r>
            <a:endParaRPr lang="en-US" sz="13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marketing &amp; sales to top-performing segments</a:t>
            </a:r>
            <a:endParaRPr lang="en-US" sz="1300"/>
          </a:p>
        </p:txBody>
      </p:sp>
      <p:sp>
        <p:nvSpPr>
          <p:cNvPr id="23" name="Shape 18"/>
          <p:cNvSpPr/>
          <p:nvPr/>
        </p:nvSpPr>
        <p:spPr>
          <a:xfrm>
            <a:off x="4709160" y="2743200"/>
            <a:ext cx="4114800" cy="16642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709160" y="2743200"/>
            <a:ext cx="4114800" cy="5943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4846320" y="2834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283464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03520" y="28529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</a:t>
            </a:r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4892040" y="331012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Standard Class shipping for cost savings</a:t>
            </a:r>
            <a:endParaRPr lang="en-US" sz="13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Medium priority orders with profit strategy</a:t>
            </a:r>
            <a:endParaRPr lang="en-US" sz="13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shipping cost across all order modes</a:t>
            </a:r>
            <a:endParaRPr lang="en-US" sz="1300"/>
          </a:p>
        </p:txBody>
      </p:sp>
      <p:sp>
        <p:nvSpPr>
          <p:cNvPr id="29" name="Shape 23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457200" y="4773168"/>
            <a:ext cx="82296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Business Performance Report  •  Act on Insights to Drive Growth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Sales_Profitability_Analysis_2</Template>
  <TotalTime>0</TotalTime>
  <Words>663</Words>
  <Application>Microsoft Office PowerPoint</Application>
  <PresentationFormat>On-screen Show (16:9)</PresentationFormat>
  <Paragraphs>147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olanrewaju faruq</dc:creator>
  <cp:lastModifiedBy>olanrewaju faruq</cp:lastModifiedBy>
  <cp:revision>1</cp:revision>
  <dcterms:created xsi:type="dcterms:W3CDTF">2026-03-16T22:46:37Z</dcterms:created>
  <dcterms:modified xsi:type="dcterms:W3CDTF">2026-03-18T13:52:55Z</dcterms:modified>
</cp:coreProperties>
</file>